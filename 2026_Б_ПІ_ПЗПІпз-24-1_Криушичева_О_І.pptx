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3" r:id="rId3"/>
    <p:sldId id="258" r:id="rId4"/>
    <p:sldId id="259" r:id="rId5"/>
    <p:sldId id="263" r:id="rId6"/>
    <p:sldId id="269" r:id="rId7"/>
    <p:sldId id="275" r:id="rId8"/>
    <p:sldId id="260" r:id="rId9"/>
    <p:sldId id="262" r:id="rId10"/>
    <p:sldId id="271" r:id="rId11"/>
    <p:sldId id="264" r:id="rId12"/>
    <p:sldId id="276" r:id="rId13"/>
    <p:sldId id="265" r:id="rId14"/>
    <p:sldId id="272" r:id="rId15"/>
    <p:sldId id="268" r:id="rId16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19"/>
      <p:bold r:id="rId20"/>
    </p:embeddedFont>
    <p:embeddedFont>
      <p:font typeface="Economica" panose="020B060402020202020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4398" autoAdjust="0"/>
  </p:normalViewPr>
  <p:slideViewPr>
    <p:cSldViewPr snapToGrid="0">
      <p:cViewPr varScale="1">
        <p:scale>
          <a:sx n="75" d="100"/>
          <a:sy n="75" d="100"/>
        </p:scale>
        <p:origin x="1020" y="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5E480C-BFDC-6D45-5261-3660F515EE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87D6C-3CE8-4379-34FC-4C178F95DF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9A8C-994C-417B-A603-18CE49A1B20C}" type="datetimeFigureOut">
              <a:rPr lang="uk-UA" smtClean="0"/>
              <a:t>17.06.2026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7E7E0-20C1-A248-6125-6E1246B853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E1BDD-8C2D-153D-DFD7-CACDC9D50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14A9-C0B4-4FB2-B7AD-6A101CCE655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96989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308AB36-214A-DAB0-C5FC-2E573A59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4E7E5C66-F6AB-35F2-60AC-BF2890E37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EDBA9225-A1CE-89F0-9436-F040A2837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394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6515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919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uk-UA" sz="1100" b="1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Модулі / Сторінки:</a:t>
            </a: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r>
              <a:rPr lang="uk-UA" sz="1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основі визначених сутностей створено 5 однойменних модулів/сторінок застосунку та додано аналітичну сторінку Статистик та звітів</a:t>
            </a:r>
            <a:endParaRPr lang="uk-UA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102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372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308AB36-214A-DAB0-C5FC-2E573A59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4E7E5C66-F6AB-35F2-60AC-BF2890E37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EDBA9225-A1CE-89F0-9436-F040A2837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9758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308AB36-214A-DAB0-C5FC-2E573A59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4E7E5C66-F6AB-35F2-60AC-BF2890E37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EDBA9225-A1CE-89F0-9436-F040A2837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689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3945870" cy="15866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2400" noProof="0" dirty="0"/>
            </a:br>
            <a:r>
              <a:rPr lang="uk-UA" sz="2400" dirty="0"/>
              <a:t>Вебзастосунок</a:t>
            </a:r>
            <a:r>
              <a:rPr lang="ru-RU" sz="2400" noProof="0" dirty="0"/>
              <a:t> "</a:t>
            </a:r>
            <a:r>
              <a:rPr lang="pl-PL" sz="2400" noProof="0" dirty="0"/>
              <a:t>ClientsApp" </a:t>
            </a:r>
            <a:r>
              <a:rPr lang="uk-UA" sz="2400" dirty="0"/>
              <a:t>для управління клієнтами та тайм-трекінгом у консалтинговій фірмі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28300" y="2601603"/>
            <a:ext cx="4318391" cy="17578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noProof="0" dirty="0"/>
              <a:t>Криушичева Ольга Іванівна, </a:t>
            </a:r>
            <a:r>
              <a:rPr lang="uk-UA" sz="1500" dirty="0"/>
              <a:t>ПЗПІпз-24-1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uk-UA" sz="1500" noProof="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noProof="0" dirty="0"/>
              <a:t>Керівник:</a:t>
            </a:r>
            <a:r>
              <a:rPr lang="ru-RU" sz="1500" noProof="0" dirty="0"/>
              <a:t> ст. викл. Широкопетлєва М.С.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3;p13">
            <a:extLst>
              <a:ext uri="{FF2B5EF4-FFF2-40B4-BE49-F238E27FC236}">
                <a16:creationId xmlns:a16="http://schemas.microsoft.com/office/drawing/2014/main" id="{A3746360-D571-455E-9921-837FE42A1A9D}"/>
              </a:ext>
            </a:extLst>
          </p:cNvPr>
          <p:cNvSpPr txBox="1">
            <a:spLocks/>
          </p:cNvSpPr>
          <p:nvPr/>
        </p:nvSpPr>
        <p:spPr>
          <a:xfrm>
            <a:off x="2028300" y="4728649"/>
            <a:ext cx="5087400" cy="43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/>
              <a:t>2026 рік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E7CA29A-CB66-6C6B-EFF4-2C983CB0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CF6A1A9-8FC9-EC4F-5FF3-B5485B949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396240"/>
            <a:ext cx="8520600" cy="6876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Актуальність та мета роботи</a:t>
            </a:r>
          </a:p>
        </p:txBody>
      </p:sp>
      <p:sp>
        <p:nvSpPr>
          <p:cNvPr id="128" name="Google Shape;128;p22">
            <a:extLst>
              <a:ext uri="{FF2B5EF4-FFF2-40B4-BE49-F238E27FC236}">
                <a16:creationId xmlns:a16="http://schemas.microsoft.com/office/drawing/2014/main" id="{BA22EED4-178D-C164-D508-209F4E00F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9284" y="1151466"/>
            <a:ext cx="8460241" cy="3208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tabLst/>
              <a:defRPr/>
            </a:pPr>
            <a:r>
              <a:rPr kumimoji="0" lang="uk-UA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Проблеми предметної галузі: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§"/>
              <a:tabLst/>
              <a:defRPr/>
            </a:pP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проблеми ручного обліку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§"/>
              <a:tabLst/>
              <a:defRPr/>
            </a:pP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помилки у фінансових розрахунках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§"/>
              <a:tabLst/>
              <a:defRPr/>
            </a:pP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відсутність централізованої системи обліку</a:t>
            </a:r>
          </a:p>
          <a:p>
            <a:pPr marL="457200" marR="0" lvl="0" indent="-3175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pitchFamily="2" charset="2"/>
              <a:buChar char="§"/>
              <a:tabLst/>
              <a:defRPr/>
            </a:pP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необхідність автоматизації процесів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tabLst/>
              <a:defRPr/>
            </a:pPr>
            <a:endParaRPr kumimoji="0" lang="uk-UA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tabLst/>
              <a:defRPr/>
            </a:pPr>
            <a:r>
              <a:rPr kumimoji="0" lang="uk-UA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Мета роботи:</a:t>
            </a:r>
          </a:p>
          <a:p>
            <a:pPr marL="1397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tabLst/>
              <a:defRPr/>
            </a:pP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Створити веб застосунок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kumimoji="0" lang="pl-PL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ClientsApp, </a:t>
            </a:r>
            <a:r>
              <a:rPr kumimoji="0" lang="uk-UA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призначений для автоматизації обліку клієнтів, виконавців, завдань і фінансових взаєморозрахунків для невеликих і середніх сервісних компаній (юридичних, аудиторських, дизайнерських фірм тощо)</a:t>
            </a:r>
          </a:p>
          <a:p>
            <a:pPr marL="0" lvl="0" indent="0" algn="just" rtl="0">
              <a:spcBef>
                <a:spcPts val="1500"/>
              </a:spcBef>
              <a:spcAft>
                <a:spcPts val="0"/>
              </a:spcAft>
              <a:buNone/>
            </a:pPr>
            <a:endParaRPr lang="uk-UA" noProof="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4DA95F56-2472-08FC-7072-E8786BE1C8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45E938-8FC5-77A0-ED13-4D1ECBED72A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2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71609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Аналіз аналогів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3</a:t>
            </a:fld>
            <a:endParaRPr lang="uk-UA" noProof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545428-030F-4C0C-CF3A-49ECC84F5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0050" y="2094452"/>
            <a:ext cx="78768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Недоліки: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uk-UA" altLang="uk-UA" sz="1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складність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висока вартість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надлишковий функціонал</a:t>
            </a:r>
          </a:p>
          <a:p>
            <a:pPr marL="34290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uk-UA" altLang="uk-UA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або недостатній функціонал</a:t>
            </a:r>
            <a:endParaRPr kumimoji="0" lang="uk-UA" altLang="uk-U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A8D532-B015-4058-B32F-07B0A54C4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706438"/>
            <a:ext cx="1345882" cy="6149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3DF208-2736-4827-849D-454F3E741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482" y="617220"/>
            <a:ext cx="1443473" cy="7557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BAB4C1-A90A-4C52-907D-3B08C98C1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039" y="781992"/>
            <a:ext cx="1443473" cy="4966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87232A-7CC0-4C21-9B3F-C52DB51CE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051" y="751964"/>
            <a:ext cx="1181100" cy="52387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73C6D3-0EFC-4EEF-B6F8-627873934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817" y="835002"/>
            <a:ext cx="1513651" cy="4456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E748B1F-54CE-40DA-A1C0-3D698DAFCD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801" y="1410666"/>
            <a:ext cx="1458997" cy="41169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191A1FB-717B-4324-9946-2BC620007D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2199" y="1404503"/>
            <a:ext cx="1611637" cy="4259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90B0435-9576-44A5-A8AE-0193E97172B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9350" y="1372965"/>
            <a:ext cx="1458996" cy="46916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38C6713-F466-4DA6-BEFB-20F3724106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7957" y="1402580"/>
            <a:ext cx="1485900" cy="46134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A191803-9EA7-4632-8381-42553C20AC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3661" y="1342539"/>
            <a:ext cx="883189" cy="541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52374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Постановка задачі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72533" y="1161313"/>
            <a:ext cx="8290717" cy="3037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uk-UA" b="1" dirty="0"/>
              <a:t>Задача: </a:t>
            </a:r>
            <a:r>
              <a:rPr lang="uk-UA" sz="1900" dirty="0"/>
              <a:t>Створення єдиного веборієнтованого середовища для автоматизації обліку клієнтів, завдань, виконавців та фінансових взаєморозрахунків у сервісній компанії, яке забезпечує:</a:t>
            </a:r>
          </a:p>
          <a:p>
            <a:pPr marL="114300" indent="0">
              <a:buNone/>
            </a:pPr>
            <a:endParaRPr lang="uk-UA" sz="1900" dirty="0"/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ведення централізованої бази клієнтів;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управління завданнями та контроль їх виконання;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облік виконавців і відпрацьованого часу;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автоматичний розрахунок вартості виконаних робіт;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автоматичний розрахунок заборгованості клієнтів</a:t>
            </a:r>
            <a:r>
              <a:rPr lang="ru-RU" sz="19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облік платежів та фінансових операцій</a:t>
            </a:r>
            <a:r>
              <a:rPr lang="ru-RU" sz="19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формування звітів у форматі </a:t>
            </a:r>
            <a:r>
              <a:rPr lang="pl-PL" sz="1900" dirty="0"/>
              <a:t>DOCX;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sz="1900" dirty="0"/>
              <a:t>забезпечення швидкого доступу до актуальної інформації для всіх користувачів системи</a:t>
            </a:r>
            <a:r>
              <a:rPr lang="ru-RU" sz="1900" dirty="0"/>
              <a:t>.</a:t>
            </a:r>
          </a:p>
          <a:p>
            <a:pPr marL="0" indent="0" algn="just">
              <a:buNone/>
            </a:pPr>
            <a:endParaRPr lang="uk-UA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4</a:t>
            </a:fld>
            <a:endParaRPr lang="uk-UA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lang="uk-UA" sz="3200" noProof="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700051" y="894750"/>
            <a:ext cx="432915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pl-PL" sz="1500" b="1" dirty="0"/>
              <a:t>Backend: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1500" dirty="0"/>
              <a:t>ASP.NET Core MVC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1500" dirty="0"/>
              <a:t>C#</a:t>
            </a:r>
          </a:p>
          <a:p>
            <a:pPr marL="114300" indent="0">
              <a:buNone/>
            </a:pPr>
            <a:endParaRPr lang="uk-UA" sz="800" b="1" dirty="0"/>
          </a:p>
          <a:p>
            <a:pPr marL="114300" indent="0">
              <a:buNone/>
            </a:pPr>
            <a:r>
              <a:rPr lang="pl-PL" sz="1500" b="1" dirty="0"/>
              <a:t>Frontend: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1500" dirty="0"/>
              <a:t>Bootstrap 5</a:t>
            </a:r>
          </a:p>
          <a:p>
            <a:pPr marL="114300" indent="0">
              <a:buNone/>
            </a:pPr>
            <a:endParaRPr lang="ru-RU" sz="800" b="1" dirty="0"/>
          </a:p>
          <a:p>
            <a:pPr marL="114300" indent="0">
              <a:buNone/>
            </a:pPr>
            <a:r>
              <a:rPr lang="ru-RU" sz="1500" b="1" dirty="0"/>
              <a:t>База </a:t>
            </a:r>
            <a:r>
              <a:rPr lang="uk-UA" sz="1500" b="1" dirty="0"/>
              <a:t>даних та робота з даними</a:t>
            </a:r>
            <a:r>
              <a:rPr lang="ru-RU" sz="1500" b="1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1500" dirty="0"/>
              <a:t>MS SQL 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sz="1500" dirty="0"/>
              <a:t>Entity Framework Core</a:t>
            </a: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ru-RU" sz="800" dirty="0">
              <a:solidFill>
                <a:srgbClr val="0D0D0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lvl="0" indent="0">
              <a:buNone/>
              <a:tabLst>
                <a:tab pos="457200" algn="l"/>
              </a:tabLst>
            </a:pPr>
            <a:r>
              <a:rPr lang="uk-UA" sz="1500" b="1" dirty="0"/>
              <a:t>Інструменти</a:t>
            </a:r>
            <a:r>
              <a:rPr lang="ru-RU" sz="1500" b="1" dirty="0"/>
              <a:t>: </a:t>
            </a:r>
          </a:p>
          <a:p>
            <a:pPr lvl="0"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1500" dirty="0"/>
              <a:t>Visual Studio</a:t>
            </a:r>
          </a:p>
          <a:p>
            <a:pPr lvl="0"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ru-RU" sz="1500" dirty="0"/>
              <a:t>GitHub</a:t>
            </a:r>
            <a:endParaRPr lang="uk-UA" sz="1500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5</a:t>
            </a:fld>
            <a:endParaRPr lang="uk-UA" noProof="0" dirty="0"/>
          </a:p>
        </p:txBody>
      </p:sp>
      <p:pic>
        <p:nvPicPr>
          <p:cNvPr id="1026" name="Picture 2" descr="Entity Framework Core / Хабр">
            <a:extLst>
              <a:ext uri="{FF2B5EF4-FFF2-40B4-BE49-F238E27FC236}">
                <a16:creationId xmlns:a16="http://schemas.microsoft.com/office/drawing/2014/main" id="{6846A04B-74AE-4109-82E7-E8122A58B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014" y="784000"/>
            <a:ext cx="1638299" cy="92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ntity Framework Core ASP.NET Core .NET Framework, Microsoft, синий, текст  png | PNGEgg">
            <a:extLst>
              <a:ext uri="{FF2B5EF4-FFF2-40B4-BE49-F238E27FC236}">
                <a16:creationId xmlns:a16="http://schemas.microsoft.com/office/drawing/2014/main" id="{EA99C7A6-9866-4C7C-B8F1-981BDCC3D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673" y="2071607"/>
            <a:ext cx="1333499" cy="105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SQL Server - UNIFY Solutions">
            <a:extLst>
              <a:ext uri="{FF2B5EF4-FFF2-40B4-BE49-F238E27FC236}">
                <a16:creationId xmlns:a16="http://schemas.microsoft.com/office/drawing/2014/main" id="{866B6859-AB0F-49D9-9FC8-03921A32C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478" y="607315"/>
            <a:ext cx="1147762" cy="114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Рекомендации по бренду · Bootstrap v5.0">
            <a:extLst>
              <a:ext uri="{FF2B5EF4-FFF2-40B4-BE49-F238E27FC236}">
                <a16:creationId xmlns:a16="http://schemas.microsoft.com/office/drawing/2014/main" id="{1AE81C7C-5F39-4FD8-98E9-A7F4FF928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386" y="2289114"/>
            <a:ext cx="1261110" cy="100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icrosoft Visual Studio — Википедия">
            <a:extLst>
              <a:ext uri="{FF2B5EF4-FFF2-40B4-BE49-F238E27FC236}">
                <a16:creationId xmlns:a16="http://schemas.microsoft.com/office/drawing/2014/main" id="{5AAE14F1-AD9B-40AE-80B2-AE88ECC96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17" y="3577864"/>
            <a:ext cx="1072511" cy="107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Стоковое векторное изображение «Github logo vector icon» | Adobe Stock">
            <a:extLst>
              <a:ext uri="{FF2B5EF4-FFF2-40B4-BE49-F238E27FC236}">
                <a16:creationId xmlns:a16="http://schemas.microsoft.com/office/drawing/2014/main" id="{A73BA4EA-CF05-4E98-869F-91EE7EDD9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613" y="3191887"/>
            <a:ext cx="1414462" cy="141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1C2DED-9040-443C-843D-1626EEEC80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524" y="972760"/>
            <a:ext cx="890411" cy="890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99666" y="363939"/>
            <a:ext cx="7921374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Функціональні можливості </a:t>
            </a:r>
            <a:br>
              <a:rPr lang="uk-UA" sz="3200" noProof="0" dirty="0"/>
            </a:br>
            <a:r>
              <a:rPr lang="uk-UA" sz="3200" noProof="0" dirty="0"/>
              <a:t>системи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44218" y="1458629"/>
            <a:ext cx="4927882" cy="2694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облік клієнтів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управління завданнями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облік виконавців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тайм-трекінг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облік оплат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формування звітів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sz="2000" dirty="0">
                <a:solidFill>
                  <a:srgbClr val="000000"/>
                </a:solidFill>
              </a:rPr>
              <a:t>облік заборгованост</a:t>
            </a:r>
            <a:r>
              <a:rPr lang="ru-RU" sz="2000" dirty="0">
                <a:solidFill>
                  <a:srgbClr val="000000"/>
                </a:solidFill>
              </a:rPr>
              <a:t>ей</a:t>
            </a:r>
            <a:endParaRPr kumimoji="0" lang="pl-P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ru-RU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6</a:t>
            </a:fld>
            <a:endParaRPr lang="uk-UA" noProof="0" dirty="0"/>
          </a:p>
        </p:txBody>
      </p:sp>
      <p:sp>
        <p:nvSpPr>
          <p:cNvPr id="18" name="Google Shape;93;p17">
            <a:extLst>
              <a:ext uri="{FF2B5EF4-FFF2-40B4-BE49-F238E27FC236}">
                <a16:creationId xmlns:a16="http://schemas.microsoft.com/office/drawing/2014/main" id="{6C772558-67A9-4364-977E-1F35F3A9C620}"/>
              </a:ext>
            </a:extLst>
          </p:cNvPr>
          <p:cNvSpPr txBox="1">
            <a:spLocks/>
          </p:cNvSpPr>
          <p:nvPr/>
        </p:nvSpPr>
        <p:spPr>
          <a:xfrm>
            <a:off x="5905499" y="4440224"/>
            <a:ext cx="2353311" cy="48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SzPts val="1000"/>
              <a:buNone/>
              <a:tabLst>
                <a:tab pos="457200" algn="l"/>
              </a:tabLst>
            </a:pPr>
            <a:r>
              <a:rPr lang="pl-PL" sz="1200" dirty="0">
                <a:solidFill>
                  <a:srgbClr val="0D0D0D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uk-UA" sz="1200" dirty="0">
                <a:solidFill>
                  <a:srgbClr val="0D0D0D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r>
              <a:rPr lang="ru-RU" sz="1200" dirty="0">
                <a:solidFill>
                  <a:srgbClr val="0D0D0D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CA2433E-638F-4C9C-AF9D-0DF0BB0213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218805"/>
            <a:ext cx="3383815" cy="4198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54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99666" y="363939"/>
            <a:ext cx="4927882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Архітектура </a:t>
            </a:r>
            <a:br>
              <a:rPr lang="uk-UA" sz="3200" noProof="0" dirty="0"/>
            </a:br>
            <a:r>
              <a:rPr lang="uk-UA" sz="3200" noProof="0" dirty="0"/>
              <a:t>програмного забезпечення 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44218" y="1458629"/>
            <a:ext cx="4927882" cy="2694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uk-UA" b="1" dirty="0"/>
              <a:t>Архітектурний стиль</a:t>
            </a:r>
            <a:r>
              <a:rPr lang="ru-RU" b="1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dirty="0"/>
              <a:t>MVC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багатошарова архітектура</a:t>
            </a:r>
          </a:p>
          <a:p>
            <a:pPr marL="114300" indent="0">
              <a:buNone/>
            </a:pPr>
            <a:endParaRPr lang="uk-UA" b="1" dirty="0"/>
          </a:p>
          <a:p>
            <a:pPr marL="114300" indent="0">
              <a:buNone/>
            </a:pPr>
            <a:r>
              <a:rPr lang="uk-UA" b="1" dirty="0"/>
              <a:t>Переваги</a:t>
            </a:r>
            <a:r>
              <a:rPr lang="ru-RU" b="1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uk-UA" dirty="0"/>
              <a:t>масштабованість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uk-UA" dirty="0"/>
              <a:t>модульність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uk-UA" dirty="0"/>
              <a:t>підтримуваність</a:t>
            </a: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ru-RU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7</a:t>
            </a:fld>
            <a:endParaRPr lang="uk-UA" noProof="0" dirty="0"/>
          </a:p>
        </p:txBody>
      </p:sp>
      <p:sp>
        <p:nvSpPr>
          <p:cNvPr id="18" name="Google Shape;93;p17">
            <a:extLst>
              <a:ext uri="{FF2B5EF4-FFF2-40B4-BE49-F238E27FC236}">
                <a16:creationId xmlns:a16="http://schemas.microsoft.com/office/drawing/2014/main" id="{6C772558-67A9-4364-977E-1F35F3A9C620}"/>
              </a:ext>
            </a:extLst>
          </p:cNvPr>
          <p:cNvSpPr txBox="1">
            <a:spLocks/>
          </p:cNvSpPr>
          <p:nvPr/>
        </p:nvSpPr>
        <p:spPr>
          <a:xfrm>
            <a:off x="6181090" y="4371644"/>
            <a:ext cx="1917700" cy="48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SzPts val="1000"/>
              <a:buNone/>
              <a:tabLst>
                <a:tab pos="457200" algn="l"/>
              </a:tabLst>
            </a:pPr>
            <a:r>
              <a:rPr lang="uk-UA" sz="1200" dirty="0">
                <a:solidFill>
                  <a:srgbClr val="0D0D0D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Діаграма компонентів</a:t>
            </a:r>
            <a:endParaRPr lang="ru-RU" sz="1200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E32A6C-0293-4D21-9BDC-BC899DCB62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626" y="174215"/>
            <a:ext cx="3066415" cy="4185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3296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99666" y="363939"/>
            <a:ext cx="4927882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Розгортання системи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1299354" y="2914650"/>
            <a:ext cx="3041931" cy="1238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uk-UA" b="1" dirty="0"/>
              <a:t>Система складається з: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клієнтського рівня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вебсервера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сервера бази даних</a:t>
            </a:r>
          </a:p>
          <a:p>
            <a:pPr marL="114300" indent="0">
              <a:buNone/>
            </a:pPr>
            <a:endParaRPr lang="uk-UA" b="1" dirty="0"/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ru-RU" sz="1800" dirty="0">
              <a:solidFill>
                <a:srgbClr val="0D0D0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8</a:t>
            </a:fld>
            <a:endParaRPr lang="uk-UA" noProof="0" dirty="0"/>
          </a:p>
        </p:txBody>
      </p:sp>
      <p:pic>
        <p:nvPicPr>
          <p:cNvPr id="9" name="Рисунок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" y="1333500"/>
            <a:ext cx="5924934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3;p17">
            <a:extLst>
              <a:ext uri="{FF2B5EF4-FFF2-40B4-BE49-F238E27FC236}">
                <a16:creationId xmlns:a16="http://schemas.microsoft.com/office/drawing/2014/main" id="{928C5F47-B715-4288-B8B7-9C8ACEA99C71}"/>
              </a:ext>
            </a:extLst>
          </p:cNvPr>
          <p:cNvSpPr txBox="1">
            <a:spLocks/>
          </p:cNvSpPr>
          <p:nvPr/>
        </p:nvSpPr>
        <p:spPr>
          <a:xfrm>
            <a:off x="6629826" y="1746969"/>
            <a:ext cx="1917700" cy="48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buSzPts val="1000"/>
              <a:buNone/>
              <a:tabLst>
                <a:tab pos="457200" algn="l"/>
              </a:tabLst>
            </a:pPr>
            <a:r>
              <a:rPr lang="uk-UA" sz="1200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Діаграма розгортання</a:t>
            </a:r>
            <a:endParaRPr lang="ru-RU" sz="1200" dirty="0">
              <a:solidFill>
                <a:srgbClr val="0D0D0D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93;p17">
            <a:extLst>
              <a:ext uri="{FF2B5EF4-FFF2-40B4-BE49-F238E27FC236}">
                <a16:creationId xmlns:a16="http://schemas.microsoft.com/office/drawing/2014/main" id="{C218C718-D40B-4824-9F01-E60FFCBAF183}"/>
              </a:ext>
            </a:extLst>
          </p:cNvPr>
          <p:cNvSpPr txBox="1">
            <a:spLocks/>
          </p:cNvSpPr>
          <p:nvPr/>
        </p:nvSpPr>
        <p:spPr>
          <a:xfrm>
            <a:off x="4584429" y="2973913"/>
            <a:ext cx="3041931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spcAft>
                <a:spcPts val="600"/>
              </a:spcAft>
              <a:buFont typeface="Open Sans"/>
              <a:buNone/>
            </a:pPr>
            <a:r>
              <a:rPr lang="uk-UA" b="1" dirty="0"/>
              <a:t>Технології: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l-PL" dirty="0"/>
              <a:t>HTTPS</a:t>
            </a:r>
            <a:endParaRPr lang="uk-UA" dirty="0"/>
          </a:p>
          <a:p>
            <a:pPr>
              <a:buFont typeface="Wingdings" panose="05000000000000000000" pitchFamily="2" charset="2"/>
              <a:buChar char="§"/>
            </a:pPr>
            <a:r>
              <a:rPr lang="pl-PL" dirty="0"/>
              <a:t>SQL Server</a:t>
            </a:r>
            <a:endParaRPr lang="uk-UA" dirty="0"/>
          </a:p>
          <a:p>
            <a:pPr>
              <a:buFont typeface="Wingdings" panose="05000000000000000000" pitchFamily="2" charset="2"/>
              <a:buChar char="§"/>
            </a:pPr>
            <a:r>
              <a:rPr lang="pl-PL" dirty="0"/>
              <a:t>TDS protocol</a:t>
            </a:r>
            <a:endParaRPr lang="ru-RU" dirty="0"/>
          </a:p>
          <a:p>
            <a:pPr marL="114300" indent="0">
              <a:buFont typeface="Open Sans"/>
              <a:buNone/>
            </a:pPr>
            <a:endParaRPr lang="uk-UA" b="1" dirty="0"/>
          </a:p>
          <a:p>
            <a:pPr marL="0" indent="0">
              <a:buSzPts val="1000"/>
              <a:buFont typeface="Open Sans"/>
              <a:buNone/>
              <a:tabLst>
                <a:tab pos="457200" algn="l"/>
              </a:tabLst>
            </a:pPr>
            <a:endParaRPr lang="ru-RU" dirty="0">
              <a:solidFill>
                <a:srgbClr val="0D0D0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700050" y="1820336"/>
            <a:ext cx="3330930" cy="2065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>
              <a:spcAft>
                <a:spcPts val="6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uk-UA" sz="18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реляційна база даних</a:t>
            </a:r>
          </a:p>
          <a:p>
            <a:pPr marL="285750" lvl="0" indent="-285750">
              <a:spcAft>
                <a:spcPts val="6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uk-UA" sz="18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взаємопов'язаних основних таблиць </a:t>
            </a:r>
          </a:p>
          <a:p>
            <a:pPr marL="285750" lvl="0" indent="-285750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uk-UA" sz="18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зв’язки типу «один-до-багатьох»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9</a:t>
            </a:fld>
            <a:endParaRPr lang="uk-UA" noProof="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B28B31B-2409-44E7-820B-63FAC276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15925"/>
            <a:ext cx="4260300" cy="793208"/>
          </a:xfrm>
        </p:spPr>
        <p:txBody>
          <a:bodyPr>
            <a:normAutofit/>
          </a:bodyPr>
          <a:lstStyle/>
          <a:p>
            <a:r>
              <a:rPr lang="uk-UA" sz="3200" noProof="0" dirty="0"/>
              <a:t>Схема бази даних</a:t>
            </a:r>
            <a:endParaRPr lang="ru-RU" sz="3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AC817B-8818-47D7-807C-6EA0CE12A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591" y="315924"/>
            <a:ext cx="5262409" cy="4166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10</a:t>
            </a:fld>
            <a:endParaRPr lang="uk-UA" noProof="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B28B31B-2409-44E7-820B-63FAC276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315925"/>
            <a:ext cx="5217033" cy="793208"/>
          </a:xfrm>
        </p:spPr>
        <p:txBody>
          <a:bodyPr>
            <a:normAutofit/>
          </a:bodyPr>
          <a:lstStyle/>
          <a:p>
            <a:r>
              <a:rPr lang="uk-UA" sz="3200" noProof="0" dirty="0"/>
              <a:t>Ролі користувачів системи</a:t>
            </a:r>
            <a:endParaRPr lang="ru-RU" sz="3200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E2282D4-74FF-4965-BA22-1B695C9F65A4}"/>
              </a:ext>
            </a:extLst>
          </p:cNvPr>
          <p:cNvSpPr txBox="1">
            <a:spLocks/>
          </p:cNvSpPr>
          <p:nvPr/>
        </p:nvSpPr>
        <p:spPr>
          <a:xfrm>
            <a:off x="700050" y="1118917"/>
            <a:ext cx="7493264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uk-UA" b="1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Ролі користувачів:</a:t>
            </a:r>
          </a:p>
          <a:p>
            <a:pPr marL="114300" indent="0">
              <a:buFont typeface="Open Sans"/>
              <a:buNone/>
            </a:pPr>
            <a:r>
              <a:rPr lang="uk-UA" b="1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Менеджер</a:t>
            </a:r>
            <a:r>
              <a:rPr lang="uk-UA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 – має доступ до усього функціоналу застосунку.</a:t>
            </a:r>
          </a:p>
          <a:p>
            <a:pPr marL="114300" indent="0">
              <a:buFont typeface="Open Sans"/>
              <a:buNone/>
            </a:pPr>
            <a:r>
              <a:rPr lang="uk-UA" b="1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Бухгалтер</a:t>
            </a:r>
            <a:r>
              <a:rPr lang="uk-UA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 – має право редагувати оплати.</a:t>
            </a:r>
          </a:p>
          <a:p>
            <a:pPr marL="114300" indent="0">
              <a:buFont typeface="Open Sans"/>
              <a:buNone/>
            </a:pPr>
            <a:r>
              <a:rPr lang="uk-UA" b="1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Виконавець</a:t>
            </a:r>
            <a:r>
              <a:rPr lang="uk-UA" dirty="0">
                <a:solidFill>
                  <a:srgbClr val="0D0D0D"/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 – має право редагувати фактичний час.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23C463-CB27-473E-955C-4FC4727D8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36" y="3349837"/>
            <a:ext cx="7029450" cy="685800"/>
          </a:xfrm>
          <a:prstGeom prst="rect">
            <a:avLst/>
          </a:prstGeom>
        </p:spPr>
      </p:pic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DB28B31B-2409-44E7-820B-63FAC2768A03}"/>
              </a:ext>
            </a:extLst>
          </p:cNvPr>
          <p:cNvSpPr txBox="1">
            <a:spLocks/>
          </p:cNvSpPr>
          <p:nvPr/>
        </p:nvSpPr>
        <p:spPr>
          <a:xfrm>
            <a:off x="311699" y="2453041"/>
            <a:ext cx="5217033" cy="793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 sz="3200" dirty="0"/>
              <a:t>Основні сторінки системи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5607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467955"/>
            <a:ext cx="6558657" cy="10268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Приклад програмного рішення:</a:t>
            </a:r>
            <a:br>
              <a:rPr lang="uk-UA" sz="3200" noProof="0" dirty="0"/>
            </a:br>
            <a:r>
              <a:rPr lang="uk-UA" sz="3200" dirty="0"/>
              <a:t>розрахунок вартості робіт і заборгованості</a:t>
            </a:r>
            <a:endParaRPr lang="uk-UA" sz="3200" noProof="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C1F322-EFD8-47AA-95BF-C1BFFECC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43" y="1717220"/>
            <a:ext cx="5877433" cy="3354000"/>
          </a:xfrm>
        </p:spPr>
        <p:txBody>
          <a:bodyPr/>
          <a:lstStyle/>
          <a:p>
            <a:pPr marL="114300" indent="0">
              <a:buNone/>
            </a:pPr>
            <a:r>
              <a:rPr lang="uk-UA" b="1" dirty="0"/>
              <a:t>Автоматизація розрахунків: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розрахунок вартості робіт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визначення заборгованості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обробка платежів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формування звітів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11</a:t>
            </a:fld>
            <a:endParaRPr lang="uk-UA" noProof="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1FD1C9-AA3F-48E0-8278-F8437349EE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03" y="245533"/>
            <a:ext cx="2038637" cy="489346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Текст 2">
            <a:extLst>
              <a:ext uri="{FF2B5EF4-FFF2-40B4-BE49-F238E27FC236}">
                <a16:creationId xmlns:a16="http://schemas.microsoft.com/office/drawing/2014/main" id="{ACC1F322-EFD8-47AA-95BF-C1BFFECC2EFE}"/>
              </a:ext>
            </a:extLst>
          </p:cNvPr>
          <p:cNvSpPr txBox="1">
            <a:spLocks/>
          </p:cNvSpPr>
          <p:nvPr/>
        </p:nvSpPr>
        <p:spPr>
          <a:xfrm>
            <a:off x="1181048" y="3599934"/>
            <a:ext cx="5877433" cy="154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uk-UA" b="1" dirty="0"/>
              <a:t>Формули</a:t>
            </a:r>
            <a:r>
              <a:rPr lang="ru-RU" b="1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Вартість = скорегований час × ставка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uk-UA" dirty="0"/>
              <a:t>Заборгованість = вартість </a:t>
            </a:r>
            <a:r>
              <a:rPr lang="ru-RU" dirty="0"/>
              <a:t>− оплата</a:t>
            </a:r>
          </a:p>
          <a:p>
            <a:pPr marL="114300" indent="0">
              <a:buFont typeface="Open Sans"/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28176" y="197409"/>
            <a:ext cx="6910367" cy="586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Розрахунок заборгованості 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12</a:t>
            </a:fld>
            <a:endParaRPr lang="uk-UA" noProof="0" dirty="0"/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ECB7D840-86A6-4136-8903-DDE992D4B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2747" y="877345"/>
            <a:ext cx="3979546" cy="5377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uk-UA" dirty="0"/>
              <a:t>Документ - звіт в форматі </a:t>
            </a:r>
            <a:r>
              <a:rPr lang="en-US" dirty="0"/>
              <a:t>docx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40" y="1614650"/>
            <a:ext cx="3766560" cy="2471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Текст 2">
            <a:extLst>
              <a:ext uri="{FF2B5EF4-FFF2-40B4-BE49-F238E27FC236}">
                <a16:creationId xmlns:a16="http://schemas.microsoft.com/office/drawing/2014/main" id="{ECB7D840-86A6-4136-8903-DDE992D4B005}"/>
              </a:ext>
            </a:extLst>
          </p:cNvPr>
          <p:cNvSpPr txBox="1">
            <a:spLocks/>
          </p:cNvSpPr>
          <p:nvPr/>
        </p:nvSpPr>
        <p:spPr>
          <a:xfrm>
            <a:off x="481915" y="880681"/>
            <a:ext cx="3979546" cy="77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uk-UA" dirty="0"/>
              <a:t>Фрагмент коду розрахунку заборгованості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19350F-7B39-4F9B-9271-AEC06564EED3}"/>
              </a:ext>
            </a:extLst>
          </p:cNvPr>
          <p:cNvSpPr txBox="1"/>
          <p:nvPr/>
        </p:nvSpPr>
        <p:spPr>
          <a:xfrm>
            <a:off x="188200" y="1672443"/>
            <a:ext cx="4824072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CalculateTaskCost(</a:t>
            </a:r>
            <a:r>
              <a:rPr lang="en-US" sz="95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ClientTask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task)</a:t>
            </a:r>
          </a:p>
          <a:p>
            <a:r>
              <a:rPr lang="ru-RU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pl-PL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task.ExecutorTasks.Sum(</a:t>
            </a:r>
          </a:p>
          <a:p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et =&gt; et.AdjustedTime * (et.Executor?.HourlyRate ?? 0));</a:t>
            </a:r>
          </a:p>
          <a:p>
            <a:r>
              <a:rPr lang="ru-RU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9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taskCost = task.ExecutorTasks.Sum(</a:t>
            </a:r>
          </a:p>
          <a:p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et =&gt; et.AdjustedTime * (et.Executor?.HourlyRate ?? 0));</a:t>
            </a:r>
          </a:p>
          <a:p>
            <a:endParaRPr lang="ru-RU" sz="9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l-PL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totalPayments = payments</a:t>
            </a:r>
          </a:p>
          <a:p>
            <a:r>
              <a:rPr lang="en-US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.Where(p =&gt; p.ClientTaskId == task.ClientTaskId)</a:t>
            </a:r>
          </a:p>
          <a:p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.Sum(p =&gt; p.Amount);</a:t>
            </a:r>
          </a:p>
          <a:p>
            <a:endParaRPr lang="ru-RU" sz="9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l-PL" sz="9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pl-PL" sz="9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balanceDue = taskCost - totalPayments;</a:t>
            </a:r>
            <a:endParaRPr lang="ru-RU" sz="950" dirty="0"/>
          </a:p>
        </p:txBody>
      </p:sp>
    </p:spTree>
    <p:extLst>
      <p:ext uri="{BB962C8B-B14F-4D97-AF65-F5344CB8AC3E}">
        <p14:creationId xmlns:p14="http://schemas.microsoft.com/office/powerpoint/2010/main" val="233834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2450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Дизайн та інтерфейс</a:t>
            </a:r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106690"/>
            <a:ext cx="4412700" cy="1560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algn="just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dirty="0">
                <a:solidFill>
                  <a:srgbClr val="000000"/>
                </a:solidFill>
              </a:rPr>
              <a:t>сучасний мінімалістичний дизайн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dirty="0">
                <a:solidFill>
                  <a:srgbClr val="000000"/>
                </a:solidFill>
              </a:rPr>
              <a:t>адаптивний інтерфейс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dirty="0">
                <a:solidFill>
                  <a:srgbClr val="000000"/>
                </a:solidFill>
              </a:rPr>
              <a:t>проста навігація</a:t>
            </a:r>
          </a:p>
          <a:p>
            <a:pPr algn="just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uk-UA" dirty="0">
                <a:solidFill>
                  <a:srgbClr val="000000"/>
                </a:solidFill>
              </a:rPr>
              <a:t>підтримка української мови</a:t>
            </a:r>
            <a:endParaRPr lang="uk-UA" sz="180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endParaRPr lang="ru-RU" sz="180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13</a:t>
            </a:fld>
            <a:endParaRPr lang="uk-UA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62153B-7848-41F0-9875-397A03A49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37" y="532789"/>
            <a:ext cx="4107164" cy="22696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DD9EA5-1067-4691-B62D-E9C7711D5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34" y="2666997"/>
            <a:ext cx="3299333" cy="18117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A62C11-CD45-4557-B38F-4DC672342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599" y="3154192"/>
            <a:ext cx="4242926" cy="1334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E7CA29A-CB66-6C6B-EFF4-2C983CB0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CF6A1A9-8FC9-EC4F-5FF3-B5485B949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396240"/>
            <a:ext cx="8520600" cy="6876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Тестування</a:t>
            </a:r>
          </a:p>
        </p:txBody>
      </p:sp>
      <p:sp>
        <p:nvSpPr>
          <p:cNvPr id="128" name="Google Shape;128;p22">
            <a:extLst>
              <a:ext uri="{FF2B5EF4-FFF2-40B4-BE49-F238E27FC236}">
                <a16:creationId xmlns:a16="http://schemas.microsoft.com/office/drawing/2014/main" id="{BA22EED4-178D-C164-D508-209F4E00F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9284" y="1278466"/>
            <a:ext cx="8448956" cy="2819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1900" noProof="0" dirty="0"/>
              <a:t>Проведено функціональне, інтеграційне та кросбраузерне тестування</a:t>
            </a:r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1900" noProof="0" dirty="0"/>
              <a:t>Перевірено модулі клієнтів, завдань, фінансів та систему авторизації</a:t>
            </a:r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1900" noProof="0" dirty="0"/>
              <a:t>Виконано 10 тест-кейсів для критичних сценаріїв роботи</a:t>
            </a:r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1900" noProof="0" dirty="0"/>
              <a:t>Підтверджено коректність роботи з базою даних та адаптивність інтерфейсу</a:t>
            </a:r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1900" noProof="0" dirty="0"/>
              <a:t>Виявлені недоліки усунуто, працездатність системи підтверджено</a:t>
            </a:r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uk-UA" sz="1900" noProof="0" dirty="0"/>
          </a:p>
          <a:p>
            <a:pPr marL="285750" lvl="0" indent="-285750" algn="just" rtl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uk-UA" sz="1900" dirty="0"/>
          </a:p>
          <a:p>
            <a:pPr marL="0" lvl="0" indent="0" algn="just" rtl="0">
              <a:spcBef>
                <a:spcPts val="1500"/>
              </a:spcBef>
              <a:spcAft>
                <a:spcPts val="0"/>
              </a:spcAft>
              <a:buNone/>
            </a:pPr>
            <a:endParaRPr lang="uk-UA" noProof="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4DA95F56-2472-08FC-7072-E8786BE1C8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45E938-8FC5-77A0-ED13-4D1ECBED72A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14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154743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E7CA29A-CB66-6C6B-EFF4-2C983CB0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CF6A1A9-8FC9-EC4F-5FF3-B5485B949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396240"/>
            <a:ext cx="8520600" cy="6876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Підсумки</a:t>
            </a:r>
          </a:p>
        </p:txBody>
      </p:sp>
      <p:sp>
        <p:nvSpPr>
          <p:cNvPr id="128" name="Google Shape;128;p22">
            <a:extLst>
              <a:ext uri="{FF2B5EF4-FFF2-40B4-BE49-F238E27FC236}">
                <a16:creationId xmlns:a16="http://schemas.microsoft.com/office/drawing/2014/main" id="{BA22EED4-178D-C164-D508-209F4E00F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9284" y="1377165"/>
            <a:ext cx="8460241" cy="2689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14300" indent="0">
              <a:buNone/>
            </a:pPr>
            <a:r>
              <a:rPr lang="uk-UA" dirty="0"/>
              <a:t>Розроблено та протестовано вебзастосунок </a:t>
            </a:r>
            <a:r>
              <a:rPr lang="pl-PL" b="1" dirty="0"/>
              <a:t>ClientsApp</a:t>
            </a:r>
            <a:r>
              <a:rPr lang="pl-PL" dirty="0"/>
              <a:t>, </a:t>
            </a:r>
            <a:r>
              <a:rPr lang="uk-UA" dirty="0"/>
              <a:t>який автоматизує облік клієнтів, управління завданнями та фінансовими операціями.</a:t>
            </a:r>
          </a:p>
          <a:p>
            <a:pPr marL="114300" indent="0">
              <a:buNone/>
            </a:pPr>
            <a:endParaRPr lang="uk-UA" dirty="0"/>
          </a:p>
          <a:p>
            <a:pPr marL="114300" indent="0">
              <a:buNone/>
            </a:pPr>
            <a:r>
              <a:rPr lang="uk-UA" b="1" dirty="0"/>
              <a:t>Напрями розвитку системи: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впровадження сповіщень і нагадувань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розширення аналітики та звітності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інтеграція із зовнішніми сервісами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uk-UA" dirty="0"/>
              <a:t>створення мобільної версії застосунку</a:t>
            </a:r>
          </a:p>
          <a:p>
            <a:pPr marL="0" lvl="0" indent="0" algn="just" rtl="0">
              <a:spcBef>
                <a:spcPts val="1500"/>
              </a:spcBef>
              <a:spcAft>
                <a:spcPts val="0"/>
              </a:spcAft>
              <a:buNone/>
            </a:pPr>
            <a:endParaRPr lang="uk-UA" noProof="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4DA95F56-2472-08FC-7072-E8786BE1C8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45E938-8FC5-77A0-ED13-4D1ECBED72A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15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54282640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1575</TotalTime>
  <Words>587</Words>
  <Application>Microsoft Office PowerPoint</Application>
  <PresentationFormat>Экран (16:9)</PresentationFormat>
  <Paragraphs>149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Economica</vt:lpstr>
      <vt:lpstr>Wingdings</vt:lpstr>
      <vt:lpstr>Times New Roman</vt:lpstr>
      <vt:lpstr>Segoe UI</vt:lpstr>
      <vt:lpstr>Open Sans</vt:lpstr>
      <vt:lpstr>Cascadia Mono</vt:lpstr>
      <vt:lpstr>Arial</vt:lpstr>
      <vt:lpstr>Шаблон презентації кваліфікаційної роботи магістрів</vt:lpstr>
      <vt:lpstr> Вебзастосунок "ClientsApp" для управління клієнтами та тайм-трекінгом у консалтинговій фірмі</vt:lpstr>
      <vt:lpstr>Актуальність та мета роботи</vt:lpstr>
      <vt:lpstr>Аналіз аналогів</vt:lpstr>
      <vt:lpstr>Постановка задачі</vt:lpstr>
      <vt:lpstr>Вибір технологій розробки </vt:lpstr>
      <vt:lpstr>Функціональні можливості  системи</vt:lpstr>
      <vt:lpstr>Архітектура  програмного забезпечення </vt:lpstr>
      <vt:lpstr>Розгортання системи</vt:lpstr>
      <vt:lpstr>Схема бази даних</vt:lpstr>
      <vt:lpstr>Ролі користувачів системи</vt:lpstr>
      <vt:lpstr>Приклад програмного рішення: розрахунок вартості робіт і заборгованості</vt:lpstr>
      <vt:lpstr>Розрахунок заборгованості </vt:lpstr>
      <vt:lpstr>Дизайн та інтерфейс</vt:lpstr>
      <vt:lpstr>Тестування</vt:lpstr>
      <vt:lpstr>Підсумки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для управління вентиляцією</dc:title>
  <dc:creator>Дмитро Хижняк</dc:creator>
  <cp:lastModifiedBy>User</cp:lastModifiedBy>
  <cp:revision>45</cp:revision>
  <cp:lastPrinted>2026-06-01T15:12:34Z</cp:lastPrinted>
  <dcterms:created xsi:type="dcterms:W3CDTF">2025-06-19T16:04:55Z</dcterms:created>
  <dcterms:modified xsi:type="dcterms:W3CDTF">2026-06-17T16:22:17Z</dcterms:modified>
</cp:coreProperties>
</file>